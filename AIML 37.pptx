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Fraunces Light"/>
      <p:regular r:id="rId201314"/>
    </p:embeddedFont>
    <p:embeddedFont>
      <p:font typeface="Fraunces Thin"/>
      <p:regular r:id="rId201315"/>
    </p:embeddedFont>
    <p:embeddedFont>
      <p:font typeface="Fraunces ExtraLight"/>
      <p:regular r:id="rId201316"/>
    </p:embeddedFont>
    <p:embeddedFont>
      <p:font typeface="Fraunces"/>
      <p:regular r:id="rId201317"/>
    </p:embeddedFont>
    <p:embeddedFont>
      <p:font typeface="Fraunces Medium"/>
      <p:regular r:id="rId201318"/>
    </p:embeddedFont>
    <p:embeddedFont>
      <p:font typeface="Fraunces SemiBold"/>
      <p:regular r:id="rId201319"/>
    </p:embeddedFont>
    <p:embeddedFont>
      <p:font typeface="Fraunces Bold"/>
      <p:regular r:id="rId201320"/>
    </p:embeddedFont>
    <p:embeddedFont>
      <p:font typeface="Fraunces ExtraBold"/>
      <p:regular r:id="rId201321"/>
    </p:embeddedFont>
    <p:embeddedFont>
      <p:font typeface="Fraunces Black"/>
      <p:regular r:id="rId201322"/>
    </p:embeddedFont>
    <p:embeddedFont>
      <p:font typeface="Nobile"/>
      <p:regular r:id="rId201323"/>
    </p:embeddedFont>
    <p:embeddedFont>
      <p:font typeface="Nobile Medium"/>
      <p:regular r:id="rId201324"/>
    </p:embeddedFont>
    <p:embeddedFont>
      <p:font typeface="Nobile Bold"/>
      <p:regular r:id="rId2013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image" Target="../media/image-4-2.png"/><Relationship Id="rId9" Type="http://schemas.openxmlformats.org/officeDocument/2006/relationships/image" Target="../media/image-4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image" Target="../media/image-6-2.png"/><Relationship Id="rId7" Type="http://schemas.openxmlformats.org/officeDocument/2006/relationships/image" Target="../media/image-6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49483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Next Word Prediction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593404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Leveraging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Natural Language Processing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and advanced language modeling to deliver intelligent, context-aware text predictions across modern digital communication platforms.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433316"/>
            <a:ext cx="2746995" cy="215354"/>
          </a:xfrm>
          <a:prstGeom prst="roundRect">
            <a:avLst>
              <a:gd name="adj" fmla="val 47398"/>
            </a:avLst>
          </a:prstGeom>
          <a:solidFill>
            <a:srgbClr val="DDEEE0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475806"/>
            <a:ext cx="303408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NLP · DEEP LEARNING · LANGUAGE MODELING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49399"/>
            <a:ext cx="4722763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Why Next-Word Prediction Matters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3925119" y="989409"/>
            <a:ext cx="4722763" cy="433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Intelligent text prediction is now a core expectation across every digital interface. Context-aware models outperform static autocomplete by understanding grammar, semantics, and user intent.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508671"/>
            <a:ext cx="208211" cy="20821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925119" y="1812429"/>
            <a:ext cx="472276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Messaging Apps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3925119" y="2020937"/>
            <a:ext cx="4722763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Real-time suggestions reduce typing effort and accelerate conversations.</a:t>
            </a:r>
            <a:endParaRPr lang="en-US" sz="8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318221"/>
            <a:ext cx="208211" cy="20821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925119" y="2621979"/>
            <a:ext cx="472276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Search Engines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3925119" y="2830488"/>
            <a:ext cx="4722763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Predictive queries improve discoverability and reduce search friction.</a:t>
            </a:r>
            <a:endParaRPr lang="en-US" sz="8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127772"/>
            <a:ext cx="208211" cy="20821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925119" y="3431530"/>
            <a:ext cx="472276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Document Editors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3925119" y="3640038"/>
            <a:ext cx="4722763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Smart completions enhance writing flow and reduce errors.</a:t>
            </a:r>
            <a:endParaRPr lang="en-US" sz="8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5119" y="3937322"/>
            <a:ext cx="208211" cy="20821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925119" y="4241081"/>
            <a:ext cx="472276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Virtual Assistants</a:t>
            </a:r>
            <a:endParaRPr lang="en-US" sz="1000" dirty="0"/>
          </a:p>
        </p:txBody>
      </p:sp>
      <p:sp>
        <p:nvSpPr>
          <p:cNvPr id="16" name="Text 9"/>
          <p:cNvSpPr/>
          <p:nvPr/>
        </p:nvSpPr>
        <p:spPr>
          <a:xfrm>
            <a:off x="3925119" y="4449589"/>
            <a:ext cx="4722763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Contextual predictions enable natural, conversational interactions.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From Static Rules to Intelligent Context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341290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The Paradigm Shift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493169"/>
            <a:ext cx="3986733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Traditional autocomplete relies on dictionaries and static frequency tables — blind to sentence context, grammar, and user intent. Modern language models understand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semantic meaning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adapt to writing style, and generate ranked predictions with confidence scores in real time.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4665911" y="2801169"/>
            <a:ext cx="3986733" cy="281285"/>
          </a:xfrm>
          <a:prstGeom prst="roundRect">
            <a:avLst>
              <a:gd name="adj" fmla="val 23389"/>
            </a:avLst>
          </a:prstGeom>
          <a:solidFill>
            <a:srgbClr val="DDEEE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985" y="2892475"/>
            <a:ext cx="91306" cy="730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03366" y="2853258"/>
            <a:ext cx="3676204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Context-aware models reduce prediction error rates by up to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60%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compared to frequency-based methods.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System Architecture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682154"/>
            <a:ext cx="8151763" cy="3730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67310" y="1267688"/>
            <a:ext cx="1803246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Presentation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67310" y="1557209"/>
            <a:ext cx="1987578" cy="135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Web, mobile and API access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12951" y="2426274"/>
            <a:ext cx="1803247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8908" y="2715795"/>
            <a:ext cx="1827290" cy="270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Authentication, input handling, analytics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67310" y="3059413"/>
            <a:ext cx="1803246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Core NLP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67310" y="3348935"/>
            <a:ext cx="1987578" cy="270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Tokenization, embeddings, inference, scoring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6119" y="4452565"/>
            <a:ext cx="8151763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system separates concerns across four layers: a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presentation layer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for multi-device access, an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application layer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handling business logic and authentication, an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NLP and language modeling layer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performing tokenization, embedding generation, and model inference, and an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infrastructure layer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providing scalable cloud storage and model management.</a:t>
            </a:r>
            <a:endParaRPr lang="en-US" sz="5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4662488"/>
            <a:ext cx="4058171" cy="3777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14586" y="4742855"/>
            <a:ext cx="385933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User Authentication &amp; Access Control</a:t>
            </a:r>
            <a:endParaRPr lang="en-US" sz="650" dirty="0"/>
          </a:p>
        </p:txBody>
      </p:sp>
      <p:sp>
        <p:nvSpPr>
          <p:cNvPr id="13" name="Text 9"/>
          <p:cNvSpPr/>
          <p:nvPr/>
        </p:nvSpPr>
        <p:spPr>
          <a:xfrm>
            <a:off x="614586" y="4874791"/>
            <a:ext cx="385933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Secure login with role-based permissions for admin, analyst, and end-user roles.</a:t>
            </a:r>
            <a:endParaRPr lang="en-US" sz="5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9711" y="4662488"/>
            <a:ext cx="4058171" cy="37772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08178" y="4742855"/>
            <a:ext cx="385933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Text Preprocessing Engine</a:t>
            </a:r>
            <a:endParaRPr lang="en-US" sz="650" dirty="0"/>
          </a:p>
        </p:txBody>
      </p:sp>
      <p:sp>
        <p:nvSpPr>
          <p:cNvPr id="16" name="Text 11"/>
          <p:cNvSpPr/>
          <p:nvPr/>
        </p:nvSpPr>
        <p:spPr>
          <a:xfrm>
            <a:off x="4708178" y="4874791"/>
            <a:ext cx="385933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Tokenization, stop-word handling, vocabulary mapping, and word embedding generation.</a:t>
            </a:r>
            <a:endParaRPr lang="en-US" sz="5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5075634"/>
            <a:ext cx="4058171" cy="37772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4586" y="5156002"/>
            <a:ext cx="385933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Language Model Inference</a:t>
            </a:r>
            <a:endParaRPr lang="en-US" sz="650" dirty="0"/>
          </a:p>
        </p:txBody>
      </p:sp>
      <p:sp>
        <p:nvSpPr>
          <p:cNvPr id="19" name="Text 13"/>
          <p:cNvSpPr/>
          <p:nvPr/>
        </p:nvSpPr>
        <p:spPr>
          <a:xfrm>
            <a:off x="614586" y="5287938"/>
            <a:ext cx="385933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Real-time prediction with probability calculation and confidence scoring.</a:t>
            </a:r>
            <a:endParaRPr lang="en-US" sz="5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89711" y="5075634"/>
            <a:ext cx="4058171" cy="37772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708178" y="5156002"/>
            <a:ext cx="385933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Analytics &amp; Model Management</a:t>
            </a:r>
            <a:endParaRPr lang="en-US" sz="650" dirty="0"/>
          </a:p>
        </p:txBody>
      </p:sp>
      <p:sp>
        <p:nvSpPr>
          <p:cNvPr id="22" name="Text 15"/>
          <p:cNvSpPr/>
          <p:nvPr/>
        </p:nvSpPr>
        <p:spPr>
          <a:xfrm>
            <a:off x="4708178" y="5287938"/>
            <a:ext cx="385933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Performance dashboards, usage reporting, and continuous model retraining pipelines.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End-to-End Prediction Workflow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757" y="682154"/>
            <a:ext cx="7272486" cy="39740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94731" y="2544213"/>
            <a:ext cx="168510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Input &amp; Cleaning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149912" y="2403723"/>
            <a:ext cx="1685107" cy="458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Tokenization &amp; Embedding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71232" y="2412003"/>
            <a:ext cx="1685107" cy="458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Inference &amp; Ranking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96119" y="4695974"/>
            <a:ext cx="8151763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Each user input traverses the full NLP pipeline in under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50 milliseconds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 The system cleans raw text, maps tokens to vocabulary indices, generates dense vector embeddings, extracts contextual features, runs model inference, and returns ranked word predictions with confidence scores — all in a single continuous flow.</a:t>
            </a:r>
            <a:endParaRPr lang="en-US" sz="550" dirty="0"/>
          </a:p>
        </p:txBody>
      </p:sp>
      <p:sp>
        <p:nvSpPr>
          <p:cNvPr id="8" name="Shape 5"/>
          <p:cNvSpPr/>
          <p:nvPr/>
        </p:nvSpPr>
        <p:spPr>
          <a:xfrm>
            <a:off x="496119" y="4905896"/>
            <a:ext cx="2693640" cy="358676"/>
          </a:xfrm>
          <a:prstGeom prst="roundRect">
            <a:avLst>
              <a:gd name="adj" fmla="val 17786"/>
            </a:avLst>
          </a:prstGeom>
          <a:solidFill>
            <a:srgbClr val="E8F3E8"/>
          </a:solidFill>
          <a:ln/>
        </p:spPr>
      </p:sp>
      <p:sp>
        <p:nvSpPr>
          <p:cNvPr id="9" name="Text 6"/>
          <p:cNvSpPr/>
          <p:nvPr/>
        </p:nvSpPr>
        <p:spPr>
          <a:xfrm>
            <a:off x="566961" y="4976738"/>
            <a:ext cx="255195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Tokenization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566961" y="5108674"/>
            <a:ext cx="255195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WordPiece or BPE tokenization maps raw text to vocabulary indices.</a:t>
            </a:r>
            <a:endParaRPr lang="en-US" sz="550" dirty="0"/>
          </a:p>
        </p:txBody>
      </p:sp>
      <p:sp>
        <p:nvSpPr>
          <p:cNvPr id="11" name="Shape 8"/>
          <p:cNvSpPr/>
          <p:nvPr/>
        </p:nvSpPr>
        <p:spPr>
          <a:xfrm>
            <a:off x="3225180" y="4905896"/>
            <a:ext cx="2693640" cy="358676"/>
          </a:xfrm>
          <a:prstGeom prst="roundRect">
            <a:avLst>
              <a:gd name="adj" fmla="val 17786"/>
            </a:avLst>
          </a:prstGeom>
          <a:solidFill>
            <a:srgbClr val="E8F3E8"/>
          </a:solidFill>
          <a:ln/>
        </p:spPr>
      </p:sp>
      <p:sp>
        <p:nvSpPr>
          <p:cNvPr id="12" name="Text 9"/>
          <p:cNvSpPr/>
          <p:nvPr/>
        </p:nvSpPr>
        <p:spPr>
          <a:xfrm>
            <a:off x="3296022" y="4976738"/>
            <a:ext cx="255195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Embedding Layer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3296022" y="5108674"/>
            <a:ext cx="255195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Word2Vec, GloVe, or contextual embeddings encode semantic meaning.</a:t>
            </a:r>
            <a:endParaRPr lang="en-US" sz="550" dirty="0"/>
          </a:p>
        </p:txBody>
      </p:sp>
      <p:sp>
        <p:nvSpPr>
          <p:cNvPr id="14" name="Shape 11"/>
          <p:cNvSpPr/>
          <p:nvPr/>
        </p:nvSpPr>
        <p:spPr>
          <a:xfrm>
            <a:off x="5954241" y="4905896"/>
            <a:ext cx="2693640" cy="358676"/>
          </a:xfrm>
          <a:prstGeom prst="roundRect">
            <a:avLst>
              <a:gd name="adj" fmla="val 17786"/>
            </a:avLst>
          </a:prstGeom>
          <a:solidFill>
            <a:srgbClr val="E8F3E8"/>
          </a:solidFill>
          <a:ln/>
        </p:spPr>
      </p:sp>
      <p:sp>
        <p:nvSpPr>
          <p:cNvPr id="15" name="Text 12"/>
          <p:cNvSpPr/>
          <p:nvPr/>
        </p:nvSpPr>
        <p:spPr>
          <a:xfrm>
            <a:off x="6025083" y="4976738"/>
            <a:ext cx="255195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Confidence Scoring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6025083" y="5108674"/>
            <a:ext cx="255195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Softmax probabilities rank predictions by likelihood and relevance.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Language Modeling Approaches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04255"/>
            <a:ext cx="3989412" cy="39894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3232" y="2542580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From Statistics to Transformers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4663232" y="2688729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Language modeling has evolved from simple N-gram statistics to deep architectures capable of capturing long-range dependencies and nuanced semantics.</a:t>
            </a:r>
            <a:endParaRPr lang="en-US" sz="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6594" y="4763765"/>
            <a:ext cx="2697212" cy="32109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6011" y="4773290"/>
            <a:ext cx="259779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LSTM / GRU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586011" y="4905226"/>
            <a:ext cx="259779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Gating mechanisms retain long-range context, ideal for sequential text.</a:t>
            </a:r>
            <a:endParaRPr lang="en-US" sz="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18557" y="4763765"/>
            <a:ext cx="2697287" cy="32109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17974" y="4773290"/>
            <a:ext cx="259786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Transformer &amp; Attention</a:t>
            </a:r>
            <a:endParaRPr lang="en-US" sz="650" dirty="0"/>
          </a:p>
        </p:txBody>
      </p:sp>
      <p:sp>
        <p:nvSpPr>
          <p:cNvPr id="11" name="Text 6"/>
          <p:cNvSpPr/>
          <p:nvPr/>
        </p:nvSpPr>
        <p:spPr>
          <a:xfrm>
            <a:off x="3317974" y="4905226"/>
            <a:ext cx="2597869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Parallel processing and self-attention capture global dependencies efficiently.</a:t>
            </a:r>
            <a:endParaRPr lang="en-US" sz="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50595" y="4763765"/>
            <a:ext cx="2697212" cy="32109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50012" y="4773290"/>
            <a:ext cx="259779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BERT / GPT</a:t>
            </a:r>
            <a:endParaRPr lang="en-US" sz="650" dirty="0"/>
          </a:p>
        </p:txBody>
      </p:sp>
      <p:sp>
        <p:nvSpPr>
          <p:cNvPr id="14" name="Text 8"/>
          <p:cNvSpPr/>
          <p:nvPr/>
        </p:nvSpPr>
        <p:spPr>
          <a:xfrm>
            <a:off x="6050012" y="4905226"/>
            <a:ext cx="259779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Pre-trained models enable transfer learning and state-of-the-art accuracy.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7194"/>
            <a:ext cx="8151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Technology Stack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96119" y="968499"/>
            <a:ext cx="860896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modern, cloud-native stack integrates frontend, backend, NLP, and deep learning components into a secure, scalable platform.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96119" y="1249487"/>
            <a:ext cx="4027289" cy="1097459"/>
          </a:xfrm>
          <a:prstGeom prst="roundRect">
            <a:avLst>
              <a:gd name="adj" fmla="val 9628"/>
            </a:avLst>
          </a:prstGeom>
          <a:solidFill>
            <a:srgbClr val="E8F3E8"/>
          </a:solidFill>
          <a:ln/>
        </p:spPr>
      </p:sp>
      <p:sp>
        <p:nvSpPr>
          <p:cNvPr id="5" name="Shape 3"/>
          <p:cNvSpPr/>
          <p:nvPr/>
        </p:nvSpPr>
        <p:spPr>
          <a:xfrm>
            <a:off x="613470" y="1366838"/>
            <a:ext cx="352202" cy="352202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0357" y="1463650"/>
            <a:ext cx="158428" cy="1584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3470" y="1816224"/>
            <a:ext cx="3792587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Frontend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13470" y="2057921"/>
            <a:ext cx="379258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React / Vue.js, D3.js, Chart.js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20592" y="1249487"/>
            <a:ext cx="4027289" cy="1097459"/>
          </a:xfrm>
          <a:prstGeom prst="roundRect">
            <a:avLst>
              <a:gd name="adj" fmla="val 9628"/>
            </a:avLst>
          </a:prstGeom>
          <a:solidFill>
            <a:srgbClr val="E8F3E8"/>
          </a:solidFill>
          <a:ln/>
        </p:spPr>
      </p:sp>
      <p:sp>
        <p:nvSpPr>
          <p:cNvPr id="10" name="Shape 7"/>
          <p:cNvSpPr/>
          <p:nvPr/>
        </p:nvSpPr>
        <p:spPr>
          <a:xfrm>
            <a:off x="4737943" y="1366838"/>
            <a:ext cx="352202" cy="352202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34830" y="1463650"/>
            <a:ext cx="158428" cy="1584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37943" y="1816224"/>
            <a:ext cx="3792587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Backend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737943" y="2057921"/>
            <a:ext cx="379258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Python, FastAPI / Flask, REST APIs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96119" y="2444130"/>
            <a:ext cx="4027289" cy="1097459"/>
          </a:xfrm>
          <a:prstGeom prst="roundRect">
            <a:avLst>
              <a:gd name="adj" fmla="val 9628"/>
            </a:avLst>
          </a:prstGeom>
          <a:solidFill>
            <a:srgbClr val="E8F3E8"/>
          </a:solidFill>
          <a:ln/>
        </p:spPr>
      </p:sp>
      <p:sp>
        <p:nvSpPr>
          <p:cNvPr id="15" name="Shape 11"/>
          <p:cNvSpPr/>
          <p:nvPr/>
        </p:nvSpPr>
        <p:spPr>
          <a:xfrm>
            <a:off x="613470" y="2561481"/>
            <a:ext cx="352202" cy="352202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0357" y="2658294"/>
            <a:ext cx="158428" cy="1584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3470" y="3010867"/>
            <a:ext cx="3792587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Deep Learning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13470" y="3252564"/>
            <a:ext cx="379258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TensorFlow, PyTorch, Keras, Hugging Face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620592" y="2444130"/>
            <a:ext cx="4027289" cy="1097459"/>
          </a:xfrm>
          <a:prstGeom prst="roundRect">
            <a:avLst>
              <a:gd name="adj" fmla="val 9628"/>
            </a:avLst>
          </a:prstGeom>
          <a:solidFill>
            <a:srgbClr val="E8F3E8"/>
          </a:solidFill>
          <a:ln/>
        </p:spPr>
      </p:sp>
      <p:sp>
        <p:nvSpPr>
          <p:cNvPr id="20" name="Shape 15"/>
          <p:cNvSpPr/>
          <p:nvPr/>
        </p:nvSpPr>
        <p:spPr>
          <a:xfrm>
            <a:off x="4737943" y="2561481"/>
            <a:ext cx="352202" cy="352202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34830" y="2658294"/>
            <a:ext cx="158428" cy="1584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37943" y="3010867"/>
            <a:ext cx="3792587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Database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737943" y="3252564"/>
            <a:ext cx="379258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PostgreSQL, Redis, Elasticsearch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496119" y="3638773"/>
            <a:ext cx="4027289" cy="1097459"/>
          </a:xfrm>
          <a:prstGeom prst="roundRect">
            <a:avLst>
              <a:gd name="adj" fmla="val 9628"/>
            </a:avLst>
          </a:prstGeom>
          <a:solidFill>
            <a:srgbClr val="E8F3E8"/>
          </a:solidFill>
          <a:ln/>
        </p:spPr>
      </p:sp>
      <p:sp>
        <p:nvSpPr>
          <p:cNvPr id="25" name="Shape 19"/>
          <p:cNvSpPr/>
          <p:nvPr/>
        </p:nvSpPr>
        <p:spPr>
          <a:xfrm>
            <a:off x="613470" y="3756124"/>
            <a:ext cx="352202" cy="352202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0357" y="3852937"/>
            <a:ext cx="158428" cy="1584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13470" y="4205511"/>
            <a:ext cx="3792587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Cloud &amp; DevOps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613470" y="4447208"/>
            <a:ext cx="379258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AWS / GCP, Docker, Kubernetes, CI/CD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4620592" y="3638773"/>
            <a:ext cx="4027289" cy="1097459"/>
          </a:xfrm>
          <a:prstGeom prst="roundRect">
            <a:avLst>
              <a:gd name="adj" fmla="val 9628"/>
            </a:avLst>
          </a:prstGeom>
          <a:solidFill>
            <a:srgbClr val="E8F3E8"/>
          </a:solidFill>
          <a:ln/>
        </p:spPr>
      </p:sp>
      <p:sp>
        <p:nvSpPr>
          <p:cNvPr id="30" name="Shape 23"/>
          <p:cNvSpPr/>
          <p:nvPr/>
        </p:nvSpPr>
        <p:spPr>
          <a:xfrm>
            <a:off x="4737943" y="3756124"/>
            <a:ext cx="352202" cy="352202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34830" y="3852937"/>
            <a:ext cx="158428" cy="15842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737943" y="4205511"/>
            <a:ext cx="3792587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Security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4737943" y="4447208"/>
            <a:ext cx="379258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OAuth 2.0, JWT, TLS 1.3, RBAC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7743"/>
            <a:ext cx="8151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Model Performance &amp; Evaluation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019696"/>
            <a:ext cx="3932709" cy="28307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9935" y="1007566"/>
            <a:ext cx="393270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Key Evaluation Metrics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719935" y="1288182"/>
            <a:ext cx="3932709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Perplexity measures how well a model predicts a sample — lower values indicate better generalization. Production systems also track inference latency, precision, recall, and F1-score.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96119" y="4069110"/>
            <a:ext cx="2652415" cy="676647"/>
          </a:xfrm>
          <a:prstGeom prst="roundRect">
            <a:avLst>
              <a:gd name="adj" fmla="val 15615"/>
            </a:avLst>
          </a:prstGeom>
          <a:solidFill>
            <a:srgbClr val="FAFFFA"/>
          </a:solidFill>
          <a:ln w="14288">
            <a:solidFill>
              <a:srgbClr val="CED9C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7757" y="4200748"/>
            <a:ext cx="2389138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Perplexity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27757" y="4442445"/>
            <a:ext cx="238913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Primary metric for language model quality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45718" y="4069110"/>
            <a:ext cx="2652489" cy="676647"/>
          </a:xfrm>
          <a:prstGeom prst="roundRect">
            <a:avLst>
              <a:gd name="adj" fmla="val 15615"/>
            </a:avLst>
          </a:prstGeom>
          <a:solidFill>
            <a:srgbClr val="FAFFFA"/>
          </a:solidFill>
          <a:ln w="14288">
            <a:solidFill>
              <a:srgbClr val="CED9C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77357" y="4200748"/>
            <a:ext cx="2389212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Inference Latency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377357" y="4442445"/>
            <a:ext cx="2389212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Target &lt;50 ms for real-time UX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995392" y="4069110"/>
            <a:ext cx="2652415" cy="676647"/>
          </a:xfrm>
          <a:prstGeom prst="roundRect">
            <a:avLst>
              <a:gd name="adj" fmla="val 15615"/>
            </a:avLst>
          </a:prstGeom>
          <a:solidFill>
            <a:srgbClr val="FAFFFA"/>
          </a:solidFill>
          <a:ln w="14288">
            <a:solidFill>
              <a:srgbClr val="CED9C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7031" y="4200748"/>
            <a:ext cx="2389138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Precision / Recall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127031" y="4442445"/>
            <a:ext cx="238913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Accuracy of top-N predictions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7425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Real-World Applications &amp; Key Advantages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900758"/>
            <a:ext cx="1104900" cy="6828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760762"/>
            <a:ext cx="190500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Mobile Keyboards &amp; Messaging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288729"/>
            <a:ext cx="190500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Reduces keystrokes by up to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40%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accelerating mobile communication.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1900758"/>
            <a:ext cx="1104900" cy="6828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2760762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Email &amp; Document Editors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78298" y="3288729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Smart compose improves writing quality and reduces cognitive load.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1900758"/>
            <a:ext cx="1104900" cy="6828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2760762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Virtual Assistants &amp; Search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0553" y="3288729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Contextual predictions enable natural, conversational interactions.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1900758"/>
            <a:ext cx="1104900" cy="6828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2760762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Accessibility &amp; Education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42807" y="3288729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Assists users with disabilities and supports language learners.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0257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Challenges, Future Roadmap &amp; Conclusion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289745"/>
            <a:ext cx="390569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Implementation Challenges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432" y="1669145"/>
            <a:ext cx="209327" cy="2093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49598" y="1662261"/>
            <a:ext cx="345221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Ambiguity &amp; Context: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Resolving multi-meaning sentences via attention mechanisms.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432" y="2386794"/>
            <a:ext cx="209327" cy="20932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49598" y="2379911"/>
            <a:ext cx="345221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Latency at Scale: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Model quantization and edge AI for sub-50 ms inference.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432" y="3104443"/>
            <a:ext cx="209327" cy="20932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49598" y="3097560"/>
            <a:ext cx="345221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Privacy &amp; Multilingual Support: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Federated learning and on-device processing.</a:t>
            </a:r>
            <a:endParaRPr lang="en-US" sz="1050" dirty="0"/>
          </a:p>
        </p:txBody>
      </p:sp>
      <p:sp>
        <p:nvSpPr>
          <p:cNvPr id="10" name="Shape 5"/>
          <p:cNvSpPr/>
          <p:nvPr/>
        </p:nvSpPr>
        <p:spPr>
          <a:xfrm>
            <a:off x="4646488" y="1152376"/>
            <a:ext cx="4106614" cy="2552849"/>
          </a:xfrm>
          <a:prstGeom prst="roundRect">
            <a:avLst>
              <a:gd name="adj" fmla="val 7872"/>
            </a:avLst>
          </a:prstGeom>
          <a:solidFill>
            <a:srgbClr val="438951"/>
          </a:solidFill>
          <a:ln/>
        </p:spPr>
      </p:sp>
      <p:sp>
        <p:nvSpPr>
          <p:cNvPr id="11" name="Text 6"/>
          <p:cNvSpPr/>
          <p:nvPr/>
        </p:nvSpPr>
        <p:spPr>
          <a:xfrm>
            <a:off x="4786015" y="1289745"/>
            <a:ext cx="3827562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Future Enhancements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786015" y="1645146"/>
            <a:ext cx="3827562" cy="2012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Large language model integration (LLM-as-a-service)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Personalized, adaptive user-level models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Real-time grammar correction and sentence completion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Speech-to-text prediction and voice assistant integration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Explainable AI for transparent predictions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Cloud-native, mobile-optimized edge deployment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496119" y="3859709"/>
            <a:ext cx="8151763" cy="773534"/>
          </a:xfrm>
          <a:prstGeom prst="roundRect">
            <a:avLst>
              <a:gd name="adj" fmla="val 16237"/>
            </a:avLst>
          </a:prstGeom>
          <a:solidFill>
            <a:srgbClr val="DDEEE0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645" y="4059585"/>
            <a:ext cx="174427" cy="13952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49598" y="4031903"/>
            <a:ext cx="755875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system delivers </a:t>
            </a:r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accurate, context-aware predictions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that enhance typing efficiency, improve writing quality, and scale across AI-powered communication platforms.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2026-07-28T05:30:47Z</dcterms:created>
  <dcterms:modified xsi:type="dcterms:W3CDTF">2026-07-28T05:30:47Z</dcterms:modified>
</cp:coreProperties>
</file>